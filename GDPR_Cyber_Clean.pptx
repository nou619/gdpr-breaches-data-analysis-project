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00FF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FF41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FF4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E0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1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22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882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6E1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551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3D1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300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250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Ireland</c:v>
                  </c:pt>
                  <c:pt idx="1">
                    <c:v>Germany</c:v>
                  </c:pt>
                  <c:pt idx="2">
                    <c:v>France</c:v>
                  </c:pt>
                  <c:pt idx="3">
                    <c:v>Netherlands</c:v>
                  </c:pt>
                  <c:pt idx="4">
                    <c:v>Spain</c:v>
                  </c:pt>
                  <c:pt idx="5">
                    <c:v>Belgium</c:v>
                  </c:pt>
                  <c:pt idx="6">
                    <c:v>Sweden</c:v>
                  </c:pt>
                  <c:pt idx="7">
                    <c:v>Denmark</c:v>
                  </c:pt>
                  <c:pt idx="8">
                    <c:v>Italy</c:v>
                  </c:pt>
                  <c:pt idx="9">
                    <c:v>Czech Rep.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61</c:v>
                </c:pt>
                <c:pt idx="1">
                  <c:v>58</c:v>
                </c:pt>
                <c:pt idx="2">
                  <c:v>40</c:v>
                </c:pt>
                <c:pt idx="3">
                  <c:v>27</c:v>
                </c:pt>
                <c:pt idx="4">
                  <c:v>22</c:v>
                </c:pt>
                <c:pt idx="5">
                  <c:v>18</c:v>
                </c:pt>
                <c:pt idx="6">
                  <c:v>13</c:v>
                </c:pt>
                <c:pt idx="7">
                  <c:v>13</c:v>
                </c:pt>
                <c:pt idx="8">
                  <c:v>12</c:v>
                </c:pt>
                <c:pt idx="9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FF41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D7A4D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1A3D1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D7A4D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0D0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Attack 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FF41"/>
              </a:solidFill>
              <a:effectLst/>
            </c:spPr>
          </c:dPt>
          <c:dPt>
            <c:idx val="1"/>
            <c:bubble3D val="0"/>
            <c:spPr>
              <a:solidFill>
                <a:srgbClr val="00CC33"/>
              </a:solidFill>
              <a:effectLst/>
            </c:spPr>
          </c:dPt>
          <c:dPt>
            <c:idx val="2"/>
            <c:bubble3D val="0"/>
            <c:spPr>
              <a:solidFill>
                <a:srgbClr val="009922"/>
              </a:solidFill>
              <a:effectLst/>
            </c:spPr>
          </c:dPt>
          <c:dPt>
            <c:idx val="3"/>
            <c:bubble3D val="0"/>
            <c:spPr>
              <a:solidFill>
                <a:srgbClr val="FFAA00"/>
              </a:solidFill>
              <a:effectLst/>
            </c:spPr>
          </c:dPt>
          <c:dPt>
            <c:idx val="4"/>
            <c:bubble3D val="0"/>
            <c:spPr>
              <a:solidFill>
                <a:srgbClr val="FF4444"/>
              </a:solidFill>
              <a:effectLst/>
            </c:spPr>
          </c:dPt>
          <c:dPt>
            <c:idx val="5"/>
            <c:bubble3D val="0"/>
            <c:spPr>
              <a:solidFill>
                <a:srgbClr val="4D7A4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8FFE8"/>
                      </a:solidFill>
                      <a:latin typeface="Courier New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8FFE8"/>
                      </a:solidFill>
                      <a:latin typeface="Courier New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8FFE8"/>
                      </a:solidFill>
                      <a:latin typeface="Courier New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8FFE8"/>
                      </a:solidFill>
                      <a:latin typeface="Courier New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8FFE8"/>
                      </a:solidFill>
                      <a:latin typeface="Courier New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E8FFE8"/>
                      </a:solidFill>
                      <a:latin typeface="Courier New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Hacking</c:v>
                </c:pt>
                <c:pt idx="1">
                  <c:v>Error</c:v>
                </c:pt>
                <c:pt idx="2">
                  <c:v>Malware</c:v>
                </c:pt>
                <c:pt idx="3">
                  <c:v>Social</c:v>
                </c:pt>
                <c:pt idx="4">
                  <c:v>Misuse</c:v>
                </c:pt>
                <c:pt idx="5">
                  <c:v>Physical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181</c:v>
                </c:pt>
                <c:pt idx="1">
                  <c:v>86</c:v>
                </c:pt>
                <c:pt idx="2">
                  <c:v>57</c:v>
                </c:pt>
                <c:pt idx="3">
                  <c:v>49</c:v>
                </c:pt>
                <c:pt idx="4">
                  <c:v>27</c:v>
                </c:pt>
                <c:pt idx="5">
                  <c:v>27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D7A4D"/>
              </a:solidFill>
              <a:latin typeface="Courier New"/>
              <a:cs typeface="Courier New"/>
            </a:defRPr>
          </a:pPr>
          <a:endParaRPr lang="en-US"/>
        </a:p>
      </c:txPr>
    </c:legend>
    <c:plotVisOnly val="1"/>
    <c:dispBlanksAs val="span"/>
  </c:chart>
  <c:spPr>
    <a:solidFill>
      <a:srgbClr val="0D0D0D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Occurrences</c:v>
                </c:pt>
              </c:strCache>
            </c:strRef>
          </c:tx>
          <c:spPr>
            <a:solidFill>
              <a:srgbClr val="00FF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FF41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FF4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E0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1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22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882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6E1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551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3D1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280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1A0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Personal</c:v>
                  </c:pt>
                  <c:pt idx="1">
                    <c:v>Credentials</c:v>
                  </c:pt>
                  <c:pt idx="2">
                    <c:v>Internal</c:v>
                  </c:pt>
                  <c:pt idx="3">
                    <c:v>Unknown</c:v>
                  </c:pt>
                  <c:pt idx="4">
                    <c:v>Medical</c:v>
                  </c:pt>
                  <c:pt idx="5">
                    <c:v>System</c:v>
                  </c:pt>
                  <c:pt idx="6">
                    <c:v>Secrets</c:v>
                  </c:pt>
                  <c:pt idx="7">
                    <c:v>Classified</c:v>
                  </c:pt>
                  <c:pt idx="8">
                    <c:v>Payment</c:v>
                  </c:pt>
                  <c:pt idx="9">
                    <c:v>Bank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135</c:v>
                </c:pt>
                <c:pt idx="1">
                  <c:v>63</c:v>
                </c:pt>
                <c:pt idx="2">
                  <c:v>62</c:v>
                </c:pt>
                <c:pt idx="3">
                  <c:v>46</c:v>
                </c:pt>
                <c:pt idx="4">
                  <c:v>36</c:v>
                </c:pt>
                <c:pt idx="5">
                  <c:v>32</c:v>
                </c:pt>
                <c:pt idx="6">
                  <c:v>31</c:v>
                </c:pt>
                <c:pt idx="7">
                  <c:v>26</c:v>
                </c:pt>
                <c:pt idx="8">
                  <c:v>13</c:v>
                </c:pt>
                <c:pt idx="9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FF41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D7A4D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1A3D1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D7A4D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0D0D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Hacking</c:v>
                </c:pt>
              </c:strCache>
            </c:strRef>
          </c:tx>
          <c:spPr>
            <a:solidFill>
              <a:srgbClr val="00FF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</c:v>
                </c:pt>
                <c:pt idx="1">
                  <c:v>4</c:v>
                </c:pt>
                <c:pt idx="2">
                  <c:v>40</c:v>
                </c:pt>
                <c:pt idx="3">
                  <c:v>52</c:v>
                </c:pt>
                <c:pt idx="4">
                  <c:v>13</c:v>
                </c:pt>
                <c:pt idx="5">
                  <c:v>8</c:v>
                </c:pt>
                <c:pt idx="6">
                  <c:v>14</c:v>
                </c:pt>
                <c:pt idx="7">
                  <c:v>3</c:v>
                </c:pt>
                <c:pt idx="8">
                  <c:v>4</c:v>
                </c:pt>
                <c:pt idx="9">
                  <c:v>6</c:v>
                </c:pt>
                <c:pt idx="10">
                  <c:v>8</c:v>
                </c:pt>
                <c:pt idx="11">
                  <c:v>5</c:v>
                </c:pt>
                <c:pt idx="12">
                  <c:v>3</c:v>
                </c:pt>
                <c:pt idx="13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Error</c:v>
                </c:pt>
              </c:strCache>
            </c:strRef>
          </c:tx>
          <c:spPr>
            <a:solidFill>
              <a:srgbClr val="00CC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</c:v>
                </c:pt>
                <c:pt idx="1">
                  <c:v>1</c:v>
                </c:pt>
                <c:pt idx="2">
                  <c:v>7</c:v>
                </c:pt>
                <c:pt idx="3">
                  <c:v>11</c:v>
                </c:pt>
                <c:pt idx="4">
                  <c:v>4</c:v>
                </c:pt>
                <c:pt idx="5">
                  <c:v>10</c:v>
                </c:pt>
                <c:pt idx="6">
                  <c:v>10</c:v>
                </c:pt>
                <c:pt idx="7">
                  <c:v>6</c:v>
                </c:pt>
                <c:pt idx="8">
                  <c:v>5</c:v>
                </c:pt>
                <c:pt idx="9">
                  <c:v>11</c:v>
                </c:pt>
                <c:pt idx="10">
                  <c:v>18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Malware</c:v>
                </c:pt>
              </c:strCache>
            </c:strRef>
          </c:tx>
          <c:spPr>
            <a:solidFill>
              <a:srgbClr val="0099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3</c:v>
                </c:pt>
                <c:pt idx="1">
                  <c:v>1</c:v>
                </c:pt>
                <c:pt idx="2">
                  <c:v>17</c:v>
                </c:pt>
                <c:pt idx="3">
                  <c:v>14</c:v>
                </c:pt>
                <c:pt idx="4">
                  <c:v>3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1</c:v>
                </c:pt>
                <c:pt idx="9">
                  <c:v>2</c:v>
                </c:pt>
                <c:pt idx="10">
                  <c:v>6</c:v>
                </c:pt>
                <c:pt idx="11">
                  <c:v>6</c:v>
                </c:pt>
                <c:pt idx="12">
                  <c:v>0</c:v>
                </c:pt>
                <c:pt idx="13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Social</c:v>
                </c:pt>
              </c:strCache>
            </c:strRef>
          </c:tx>
          <c:spPr>
            <a:solidFill>
              <a:srgbClr val="FFAA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3</c:v>
                </c:pt>
                <c:pt idx="1">
                  <c:v>1</c:v>
                </c:pt>
                <c:pt idx="2">
                  <c:v>18</c:v>
                </c:pt>
                <c:pt idx="3">
                  <c:v>14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2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1</c:v>
                </c:pt>
                <c:pt idx="12">
                  <c:v>0</c:v>
                </c:pt>
                <c:pt idx="13">
                  <c:v>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Misuse</c:v>
                </c:pt>
              </c:strCache>
            </c:strRef>
          </c:tx>
          <c:spPr>
            <a:solidFill>
              <a:srgbClr val="F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2</c:v>
                </c:pt>
                <c:pt idx="1">
                  <c:v>1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Physical</c:v>
                </c:pt>
              </c:strCache>
            </c:strRef>
          </c:tx>
          <c:spPr>
            <a:solidFill>
              <a:srgbClr val="4D7A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Sheet1!$G$2:$G$15</c:f>
              <c:numCache>
                <c:formatCode>General</c:formatCode>
                <c:ptCount val="14"/>
                <c:pt idx="0">
                  <c:v>0</c:v>
                </c:pt>
                <c:pt idx="1">
                  <c:v>1</c:v>
                </c:pt>
                <c:pt idx="2">
                  <c:v>4</c:v>
                </c:pt>
                <c:pt idx="3">
                  <c:v>7</c:v>
                </c:pt>
                <c:pt idx="4">
                  <c:v>5</c:v>
                </c:pt>
                <c:pt idx="5">
                  <c:v>2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  <c:pt idx="9">
                  <c:v>3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D7A4D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1A3D1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D7A4D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D7A4D"/>
              </a:solidFill>
              <a:latin typeface="Courier New"/>
              <a:cs typeface="Courier New"/>
            </a:defRPr>
          </a:pPr>
          <a:endParaRPr lang="en-US"/>
        </a:p>
      </c:txPr>
    </c:legend>
    <c:plotVisOnly val="1"/>
    <c:dispBlanksAs val="span"/>
  </c:chart>
  <c:spPr>
    <a:solidFill>
      <a:srgbClr val="0D0D0D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00FF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FF41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FF4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E0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1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22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882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6E1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551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3D1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280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1A0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Public Admin</c:v>
                  </c:pt>
                  <c:pt idx="1">
                    <c:v>Information</c:v>
                  </c:pt>
                  <c:pt idx="2">
                    <c:v>Finance</c:v>
                  </c:pt>
                  <c:pt idx="3">
                    <c:v>Health Care</c:v>
                  </c:pt>
                  <c:pt idx="4">
                    <c:v>Professional Svcs</c:v>
                  </c:pt>
                  <c:pt idx="5">
                    <c:v>Retail</c:v>
                  </c:pt>
                  <c:pt idx="6">
                    <c:v>Manufacturing</c:v>
                  </c:pt>
                  <c:pt idx="7">
                    <c:v>Other</c:v>
                  </c:pt>
                  <c:pt idx="8">
                    <c:v>Education</c:v>
                  </c:pt>
                  <c:pt idx="9">
                    <c:v>Transport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87</c:v>
                </c:pt>
                <c:pt idx="1">
                  <c:v>78</c:v>
                </c:pt>
                <c:pt idx="2">
                  <c:v>37</c:v>
                </c:pt>
                <c:pt idx="3">
                  <c:v>33</c:v>
                </c:pt>
                <c:pt idx="4">
                  <c:v>24</c:v>
                </c:pt>
                <c:pt idx="5">
                  <c:v>13</c:v>
                </c:pt>
                <c:pt idx="6">
                  <c:v>13</c:v>
                </c:pt>
                <c:pt idx="7">
                  <c:v>12</c:v>
                </c:pt>
                <c:pt idx="8">
                  <c:v>9</c:v>
                </c:pt>
                <c:pt idx="9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FF41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D7A4D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1A3D1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D7A4D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0D0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SYS_INIT ]  VCDB-EU  ·  GDPR ART.33 BREACH INTELLIGENCE  ·  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BREACH</a:t>
            </a:r>
            <a:endParaRPr lang="en-US" sz="5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 REPORT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EU.GDPR  //  WHO IS BREACHED · HOW THEY'RE ATTACKED · WHAT DATA IS AT RISK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8412480" cy="0"/>
          </a:xfrm>
          <a:prstGeom prst="line">
            <a:avLst/>
          </a:prstGeom>
          <a:noFill/>
          <a:ln w="12700">
            <a:solidFill>
              <a:srgbClr val="1A3D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200400"/>
            <a:ext cx="2560320" cy="1280160"/>
          </a:xfrm>
          <a:prstGeom prst="rect">
            <a:avLst/>
          </a:prstGeom>
          <a:solidFill>
            <a:srgbClr val="1A1A1A"/>
          </a:solidFill>
          <a:ln w="10160">
            <a:solidFill>
              <a:srgbClr val="1A3D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461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338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65760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9BB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3200400"/>
            <a:ext cx="2560320" cy="1280160"/>
          </a:xfrm>
          <a:prstGeom prst="rect">
            <a:avLst/>
          </a:prstGeom>
          <a:solidFill>
            <a:srgbClr val="1A1A1A"/>
          </a:solidFill>
          <a:ln w="10160">
            <a:solidFill>
              <a:srgbClr val="1A3D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2461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200400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9BB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STOLEN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3200400"/>
            <a:ext cx="2560320" cy="1280160"/>
          </a:xfrm>
          <a:prstGeom prst="rect">
            <a:avLst/>
          </a:prstGeom>
          <a:solidFill>
            <a:srgbClr val="1A1A1A"/>
          </a:solidFill>
          <a:ln w="10160">
            <a:solidFill>
              <a:srgbClr val="1A3D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32461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035040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9BB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STATES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 FOR: MANAGERS &amp; ANALYSTS  ·  SOURCE: VCDB VALIDATED DATASET  ·  2025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MODULE_00 ]  WHY THIS MATTERS  ·  GDPR LEGAL FRAMEWORK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GDPR BREACHES MATTER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stakes behind every incident in this report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572000" cy="804672"/>
          </a:xfrm>
          <a:prstGeom prst="rect">
            <a:avLst/>
          </a:prstGeom>
          <a:solidFill>
            <a:srgbClr val="1A1A1A"/>
          </a:solidFill>
          <a:ln w="10160">
            <a:solidFill>
              <a:srgbClr val="00FF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 33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72-HOUR RULE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personal data breach must be notified to the supervisory authority within 72 hours of discovery.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4572000" cy="804672"/>
          </a:xfrm>
          <a:prstGeom prst="rect">
            <a:avLst/>
          </a:prstGeom>
          <a:solidFill>
            <a:srgbClr val="1A1A1A"/>
          </a:solidFill>
          <a:ln w="10160">
            <a:solidFill>
              <a:srgbClr val="FFA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688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 34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24688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VICTIM NOTIFICATION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7614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breach is likely to result in high risk, affected individuals must be directly notified without undue delay.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572000" cy="804672"/>
          </a:xfrm>
          <a:prstGeom prst="rect">
            <a:avLst/>
          </a:prstGeom>
          <a:solidFill>
            <a:srgbClr val="1A1A1A"/>
          </a:solidFill>
          <a:ln w="10160">
            <a:solidFill>
              <a:srgbClr val="F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290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 83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34290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FINES UP TO €20M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7216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can be fined up to €20M or 4% of global annual turnover — whichever is higher.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66360" y="438912"/>
            <a:ext cx="3657600" cy="4187952"/>
          </a:xfrm>
          <a:prstGeom prst="rect">
            <a:avLst/>
          </a:prstGeom>
          <a:solidFill>
            <a:srgbClr val="1A1A1A"/>
          </a:solidFill>
          <a:ln w="10160">
            <a:solidFill>
              <a:srgbClr val="1A3D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6858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€20M</a:t>
            </a:r>
            <a:endParaRPr lang="en-US" sz="8000" dirty="0"/>
          </a:p>
        </p:txBody>
      </p:sp>
      <p:sp>
        <p:nvSpPr>
          <p:cNvPr id="20" name="Text 18"/>
          <p:cNvSpPr/>
          <p:nvPr/>
        </p:nvSpPr>
        <p:spPr>
          <a:xfrm>
            <a:off x="516636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4% GLOBAL TURNOVER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2331720"/>
            <a:ext cx="3291840" cy="0"/>
          </a:xfrm>
          <a:prstGeom prst="line">
            <a:avLst/>
          </a:prstGeom>
          <a:noFill/>
          <a:ln w="10160">
            <a:solidFill>
              <a:srgbClr val="1A3D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GDPR FINE PER VIOLATION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49240" y="2907792"/>
            <a:ext cx="3291840" cy="0"/>
          </a:xfrm>
          <a:prstGeom prst="line">
            <a:avLst/>
          </a:prstGeom>
          <a:noFill/>
          <a:ln w="10160">
            <a:solidFill>
              <a:srgbClr val="1A3D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30358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BB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Every incident = potential Art.33 violation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0" y="33467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BB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Medical &amp; financial data = Art.9 special category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03520" y="36576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BB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72h clock starts at discovery — not breach date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03520" y="39684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Ireland DPC issued €1.2B in fines (Meta, 2023)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GDPR REGULATION (EU) 2016/679  ·  ENFORCEMENT SINCE MAY 25, 2018  ·  APPLIES TO ALL EU MEMBER STATES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MODULE_01 ]  SCALE OF THE PROBLEM  ·  338 VALIDATED GDPR-SCOPE INCIDENTS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SCALE OF THE PROBLEM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965960" cy="1828800"/>
          </a:xfrm>
          <a:prstGeom prst="rect">
            <a:avLst/>
          </a:prstGeom>
          <a:solidFill>
            <a:srgbClr val="1A1A1A"/>
          </a:solidFill>
          <a:ln w="10160">
            <a:solidFill>
              <a:srgbClr val="00FF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43584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INCIDENTS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GDPR scope only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42032" y="1170432"/>
            <a:ext cx="1965960" cy="1828800"/>
          </a:xfrm>
          <a:prstGeom prst="rect">
            <a:avLst/>
          </a:prstGeom>
          <a:solidFill>
            <a:srgbClr val="1A1A1A"/>
          </a:solidFill>
          <a:ln w="10160">
            <a:solidFill>
              <a:srgbClr val="F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243584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542032" y="2103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STOLEN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42032" y="23957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Art.33 notification trigger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18304" y="1170432"/>
            <a:ext cx="1965960" cy="1828800"/>
          </a:xfrm>
          <a:prstGeom prst="rect">
            <a:avLst/>
          </a:prstGeom>
          <a:solidFill>
            <a:srgbClr val="1A1A1A"/>
          </a:solidFill>
          <a:ln w="10160">
            <a:solidFill>
              <a:srgbClr val="FFA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243584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IE#1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718304" y="2103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BREACHED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18304" y="23957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 incidents · tech HQ hub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94576" y="1170432"/>
            <a:ext cx="1965960" cy="1828800"/>
          </a:xfrm>
          <a:prstGeom prst="rect">
            <a:avLst/>
          </a:prstGeom>
          <a:solidFill>
            <a:srgbClr val="1A1A1A"/>
          </a:solidFill>
          <a:ln w="10160">
            <a:solidFill>
              <a:srgbClr val="00FF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1243584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894576" y="2103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 YEAR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94576" y="23957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incidents · hacking surge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182112"/>
            <a:ext cx="841248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1A3D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918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GDPR IMPLICATION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353872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338 incidents triggered or should have triggered a 72-hour Art.33 supervisory authority notification. At 72% confirmed data theft, the majority also required Art.34 victim notification. Non-compliance = Art.83 fine exposure.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FIGURES: VCDB VALIDATED DATASET  ·  EU MEMBER STATES ONLY  ·  2010–2025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MODULE_02 ]  GEOGRAPHIC EXPOSURE  ·  27 EU MEMBER STATES  ·  GDPR JURISDICTION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COUNTRIES ARE MOST EXPOSED?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member state — all within GDPR Art.33 reporting obligation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1371600"/>
            <a:ext cx="292608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00FF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  ›  61 INCIDENTS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35040" y="179222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DPC (Dublin) oversees Meta, Google, Apple, Twitter — highest notification volume in EU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897880" y="2450592"/>
            <a:ext cx="292608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FFAA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2542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 ›  58 INCIDENTS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287121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+ 16 state-level DPAs. Federal structure = more reporting touch points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897880" y="3529584"/>
            <a:ext cx="292608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00FF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3621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  ›  40 INCIDENTS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35040" y="39502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CNIL enforces aggressively. Google fined €150M + €60M for cookie violations alone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TIP: REPLACE CHART WITH POWER BI FILLED MAP VISUAL FOR MAXIMUM IMPACT IN LIVE PRESENTATION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MODULE_03 ]  ATTACK VECTORS  ·  HOW BREACHES HAPPEN  ·  GDPR ART.32 TECHNICAL MEASURES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ARE ATTACKERS GETTING IN?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Art.32 GDPR requires 'appropriate technical measures' — these numbers show what's failing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251960" y="1371600"/>
            <a:ext cx="4572000" cy="685800"/>
          </a:xfrm>
          <a:prstGeom prst="rect">
            <a:avLst/>
          </a:prstGeom>
          <a:solidFill>
            <a:srgbClr val="1A1A1A"/>
          </a:solidFill>
          <a:ln w="10160">
            <a:solidFill>
              <a:srgbClr val="00FF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0" y="142646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12080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269480" y="14447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181 incidents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389120" y="175564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Art.32 failure: inadequate access controls, no MFA, unpatched systems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251960" y="2167128"/>
            <a:ext cx="4572000" cy="685800"/>
          </a:xfrm>
          <a:prstGeom prst="rect">
            <a:avLst/>
          </a:prstGeom>
          <a:solidFill>
            <a:srgbClr val="1A1A1A"/>
          </a:solidFill>
          <a:ln w="10160">
            <a:solidFill>
              <a:srgbClr val="FFAA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0" y="222199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21208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ERROR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69480" y="22402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 incidents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389120" y="255117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Art.32 + Art.29: staff training obligation — misconfigs, wrong recipients, lost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251960" y="2962656"/>
            <a:ext cx="4572000" cy="685800"/>
          </a:xfrm>
          <a:prstGeom prst="rect">
            <a:avLst/>
          </a:prstGeom>
          <a:solidFill>
            <a:srgbClr val="1A1A1A"/>
          </a:solidFill>
          <a:ln w="10160">
            <a:solidFill>
              <a:srgbClr val="F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89120" y="301752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212080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MALWARE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269480" y="30358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 incidents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389120" y="334670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Art.32: endpoint protection gap — ransomware often triggers Art.34 victim notification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251960" y="3758184"/>
            <a:ext cx="4572000" cy="685800"/>
          </a:xfrm>
          <a:prstGeom prst="rect">
            <a:avLst/>
          </a:prstGeom>
          <a:solidFill>
            <a:srgbClr val="1A1A1A"/>
          </a:solidFill>
          <a:ln w="10160">
            <a:solidFill>
              <a:srgbClr val="00FF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0" y="38130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212080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ENG.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269480" y="38313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 incidents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389120" y="41422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Art.39: DPO must advise on phishing awareness — often bypasses technical controls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GDPR ART.32: ORGANISATIONS MUST IMPLEMENT 'STATE OF THE ART' TECHNICAL &amp; ORGANISATIONAL SECURITY MEASURES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MODULE_04 ]  DATA EXPOSURE ANALYSIS  ·  GDPR ART.4 + ART.9 SPECIAL CATEGORIES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DATA IS BEING STOLEN?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data is equal under GDPR — Art.9 special categories carry highest penalty risk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371600"/>
            <a:ext cx="315468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00FF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463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766560" y="14630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 DATA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06440" y="171907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135×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37960" y="171907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emails, addresses — core GDPR scope. Every exposure = mandatory Art.33 assessment.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669280" y="2441448"/>
            <a:ext cx="315468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F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25328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ART.9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766560" y="2532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MEDICAL DATA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06440" y="278892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36×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37960" y="27889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category. Requires explicit consent + DPO involvement. Breach = near-automatic Art.34.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669280" y="3511296"/>
            <a:ext cx="315468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FFAA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36027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PCI+GDPR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766560" y="36027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 &amp; BANK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06440" y="385876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24×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537960" y="385876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obligation: GDPR + PCI-DSS. Two regulators, two fines, two notification timelines.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GDPR ART.9: PROCESSING OF SPECIAL CATEGORY DATA (HEALTH, BIOMETRIC, GENETIC) REQUIRES EXPLICIT CONSENT + ENHANCED SAFEGUARDS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MODULE_05 ]  TEMPORAL ANALYSIS  ·  ATTACK EVOLUTION 2010–2025  ·  GDPR ENFORCEMENT TIMELINE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ATTACK METHODS EVOLVED OVER TIME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enforcement began May 2018 — watch what happens after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6400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1371600"/>
            <a:ext cx="182880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F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59168" y="146304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59168" y="1773936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PEAK: 78 INCIDENTS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059168" y="1975104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hacking wave. Pre-GDPR = almost zero accountability.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949440" y="2441448"/>
            <a:ext cx="182880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FFAA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59168" y="253288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59168" y="284378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GDPR DAY-1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059168" y="304495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live. Volume drops as awareness rises. Art.33 clock starts.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949440" y="3511296"/>
            <a:ext cx="182880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00FF4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59168" y="3602736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59168" y="3913632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HACKING RETURNS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059168" y="4114800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hacking incidents in 2025. Art.32 compliance still insufficient.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GDPR ENFORCEMENT: MAY 2018  ·  POST-GDPR INCIDENTS CARRY FULL ART.83 FINE EXPOSURE  ·  PRE-2018 = LEGACY RISK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MODULE_06 ]  SECTOR RISK MATRIX  ·  GDPR SUPERVISORY AUTHORITY PRIORITIES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SECTORS ARE MOST AT RISK?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 + tech + health = regulators' primary enforcement targets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371600"/>
            <a:ext cx="315468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F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463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 PUBLIC ADMIN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06440" y="1463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 incidents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806440" y="181051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target. Citizens' data. DPAs scrutinise public bodies first — no fine cap exemption.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669280" y="2441448"/>
            <a:ext cx="315468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FFAA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2532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 HEALTH CARE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06440" y="2532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incidents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06440" y="288036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Art.9 special category. EVERY health breach = mandatory DPO review + likely Art.34 notification.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69280" y="3511296"/>
            <a:ext cx="3154680" cy="914400"/>
          </a:xfrm>
          <a:prstGeom prst="rect">
            <a:avLst/>
          </a:prstGeom>
          <a:solidFill>
            <a:srgbClr val="1A1A1A"/>
          </a:solidFill>
          <a:ln w="10160">
            <a:solidFill>
              <a:srgbClr val="00FF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3602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FINANCE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06440" y="3602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FF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incidents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806440" y="395020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GDPR + EBA/PSD2 obligations. Most expensive breaches per incident due to payment data.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PROTECTION AUTHORITIES PRIORITISE: PUBLIC SECTOR · HEALTH · FINANCE · TELECOM  ·  HIGHEST FINE RISK SECTORS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MODULE_07 ]  RECOMMENDATIONS  ·  GDPR COMPLIANCE ACTIONS  ·  PRIORITY RANKING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DO WE DO NOW?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data-driven actions tied directly to GDPR obligations and breach patterns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877824"/>
          </a:xfrm>
          <a:prstGeom prst="rect">
            <a:avLst/>
          </a:prstGeom>
          <a:solidFill>
            <a:srgbClr val="1A1A1A"/>
          </a:solidFill>
          <a:ln w="10160">
            <a:solidFill>
              <a:srgbClr val="00FF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HARDEN AGAINST HACKING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5270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ART.32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0" y="15087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1560" y="18745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of breaches = hacking. Deploy MFA across all systems, run quarterly web app pentests, implement credential monitoring. Especially critical for IE/DE entities.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441448"/>
            <a:ext cx="8412480" cy="877824"/>
          </a:xfrm>
          <a:prstGeom prst="rect">
            <a:avLst/>
          </a:prstGeom>
          <a:solidFill>
            <a:srgbClr val="1A1A1A"/>
          </a:solidFill>
          <a:ln w="10160">
            <a:solidFill>
              <a:srgbClr val="FFA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328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5328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ELIMINATE HUMAN ERROR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25511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ART.29 + ART.32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0" y="25328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A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51560" y="28986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breaches = staff error. Mandatory data handling training, DLP tooling, and email classification labels. Art.29 requires processors act only on controller instructions.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65576"/>
            <a:ext cx="8412480" cy="877824"/>
          </a:xfrm>
          <a:prstGeom prst="rect">
            <a:avLst/>
          </a:prstGeom>
          <a:solidFill>
            <a:srgbClr val="1A1A1A"/>
          </a:solidFill>
          <a:ln w="10160">
            <a:solidFill>
              <a:srgbClr val="F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570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560" y="35570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 PERSONAL &amp; MEDICAL DATA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3575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ART.9 + ART.25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0" y="35570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51560" y="392277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B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in 40% of records. Art.25 mandates privacy by design — encrypt at rest, apply data minimisation, automate Art.33 breach detection and 72h notification workflows.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GDPR COMPLIANCE IS NOT OPTIONAL · MAX FINE: €20M OR 4% GLOBAL TURNOVER · ENFORCEMENT IS ACCELERATING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END_OF_REPORT ]  VCDB-EU  ·  GDPR BREACH INTELLIGENCE  · 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DATA IS CLEAR.</a:t>
            </a:r>
            <a:endParaRPr lang="en-US" sz="4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BREACHES ARE REAL.</a:t>
            </a:r>
            <a:endParaRPr lang="en-US" sz="4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FINES ARE BIGGER.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365760" y="2999232"/>
            <a:ext cx="8412480" cy="0"/>
          </a:xfrm>
          <a:prstGeom prst="line">
            <a:avLst/>
          </a:prstGeom>
          <a:noFill/>
          <a:ln w="12700">
            <a:solidFill>
              <a:srgbClr val="1A3D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3154680"/>
            <a:ext cx="1965960" cy="1261872"/>
          </a:xfrm>
          <a:prstGeom prst="rect">
            <a:avLst/>
          </a:prstGeom>
          <a:solidFill>
            <a:srgbClr val="1A1A1A"/>
          </a:solidFill>
          <a:ln w="10160">
            <a:solidFill>
              <a:srgbClr val="1A3D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1868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338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38404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9BB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INCIDENTS ANALYSED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42032" y="3154680"/>
            <a:ext cx="1965960" cy="1261872"/>
          </a:xfrm>
          <a:prstGeom prst="rect">
            <a:avLst/>
          </a:prstGeom>
          <a:solidFill>
            <a:srgbClr val="1A1A1A"/>
          </a:solidFill>
          <a:ln w="10160">
            <a:solidFill>
              <a:srgbClr val="1A3D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321868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42032" y="38404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9BB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STOLEN RATE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18304" y="3154680"/>
            <a:ext cx="1965960" cy="1261872"/>
          </a:xfrm>
          <a:prstGeom prst="rect">
            <a:avLst/>
          </a:prstGeom>
          <a:solidFill>
            <a:srgbClr val="1A1A1A"/>
          </a:solidFill>
          <a:ln w="10160">
            <a:solidFill>
              <a:srgbClr val="1A3D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321868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€20M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18304" y="38404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9BB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GDPR FINE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894576" y="3154680"/>
            <a:ext cx="1965960" cy="1261872"/>
          </a:xfrm>
          <a:prstGeom prst="rect">
            <a:avLst/>
          </a:prstGeom>
          <a:solidFill>
            <a:srgbClr val="1A1A1A"/>
          </a:solidFill>
          <a:ln w="10160">
            <a:solidFill>
              <a:srgbClr val="1A3D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94576" y="321868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72H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894576" y="38404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9BB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 WINDOW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5760" y="4526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patterns are consistent. The obligations are clear. The next step is action.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GDPR REGULATION (EU) 2016/679  ·  VCDB VALIDATED DATASET  ·  ALL FIGURES: EU MEMBER STATES ONLY  ·  338 INCIDENTS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2026-05-02T17:31:31Z</dcterms:created>
  <dcterms:modified xsi:type="dcterms:W3CDTF">2026-05-02T17:31:31Z</dcterms:modified>
</cp:coreProperties>
</file>