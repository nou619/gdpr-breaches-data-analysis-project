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Ireland</c:v>
                  </c:pt>
                  <c:pt idx="1">
                    <c:v>Germany</c:v>
                  </c:pt>
                  <c:pt idx="2">
                    <c:v>France</c:v>
                  </c:pt>
                  <c:pt idx="3">
                    <c:v>Netherlands</c:v>
                  </c:pt>
                  <c:pt idx="4">
                    <c:v>Spain</c:v>
                  </c:pt>
                  <c:pt idx="5">
                    <c:v>Belgium</c:v>
                  </c:pt>
                  <c:pt idx="6">
                    <c:v>Sweden</c:v>
                  </c:pt>
                  <c:pt idx="7">
                    <c:v>Denmark</c:v>
                  </c:pt>
                  <c:pt idx="8">
                    <c:v>Italy</c:v>
                  </c:pt>
                  <c:pt idx="9">
                    <c:v>Czech Rep.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61</c:v>
                </c:pt>
                <c:pt idx="1">
                  <c:v>58</c:v>
                </c:pt>
                <c:pt idx="2">
                  <c:v>40</c:v>
                </c:pt>
                <c:pt idx="3">
                  <c:v>27</c:v>
                </c:pt>
                <c:pt idx="4">
                  <c:v>22</c:v>
                </c:pt>
                <c:pt idx="5">
                  <c:v>18</c:v>
                </c:pt>
                <c:pt idx="6">
                  <c:v>13</c:v>
                </c:pt>
                <c:pt idx="7">
                  <c:v>13</c:v>
                </c:pt>
                <c:pt idx="8">
                  <c:v>12</c:v>
                </c:pt>
                <c:pt idx="9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bubble3D val="0"/>
            <c:spPr>
              <a:solidFill>
                <a:srgbClr val="0077A8"/>
              </a:solidFill>
              <a:effectLst/>
            </c:spPr>
          </c:dPt>
          <c:dPt>
            <c:idx val="3"/>
            <c:bubble3D val="0"/>
            <c:spPr>
              <a:solidFill>
                <a:srgbClr val="006085"/>
              </a:solidFill>
              <a:effectLst/>
            </c:spPr>
          </c:dPt>
          <c:dPt>
            <c:idx val="4"/>
            <c:bubble3D val="0"/>
            <c:spPr>
              <a:solidFill>
                <a:srgbClr val="004F6E"/>
              </a:solidFill>
              <a:effectLst/>
            </c:spPr>
          </c:dPt>
          <c:dPt>
            <c:idx val="5"/>
            <c:bubble3D val="0"/>
            <c:spPr>
              <a:solidFill>
                <a:srgbClr val="33415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Hacking</c:v>
                </c:pt>
                <c:pt idx="1">
                  <c:v>Error</c:v>
                </c:pt>
                <c:pt idx="2">
                  <c:v>Malware</c:v>
                </c:pt>
                <c:pt idx="3">
                  <c:v>Social</c:v>
                </c:pt>
                <c:pt idx="4">
                  <c:v>Misuse</c:v>
                </c:pt>
                <c:pt idx="5">
                  <c:v>Physical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181</c:v>
                </c:pt>
                <c:pt idx="1">
                  <c:v>86</c:v>
                </c:pt>
                <c:pt idx="2">
                  <c:v>57</c:v>
                </c:pt>
                <c:pt idx="3">
                  <c:v>49</c:v>
                </c:pt>
                <c:pt idx="4">
                  <c:v>27</c:v>
                </c:pt>
                <c:pt idx="5">
                  <c:v>27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7FA8B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Occurrences</c:v>
                </c:pt>
              </c:strCache>
            </c:strRef>
          </c:tx>
          <c:spPr>
            <a:solidFill>
              <a:srgbClr val="3C34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348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34AB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77D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FA9E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ECB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8504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FE1CB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Personal</c:v>
                  </c:pt>
                  <c:pt idx="1">
                    <c:v>Credentials</c:v>
                  </c:pt>
                  <c:pt idx="2">
                    <c:v>Internal</c:v>
                  </c:pt>
                  <c:pt idx="3">
                    <c:v>Unknown</c:v>
                  </c:pt>
                  <c:pt idx="4">
                    <c:v>Medical</c:v>
                  </c:pt>
                  <c:pt idx="5">
                    <c:v>System</c:v>
                  </c:pt>
                  <c:pt idx="6">
                    <c:v>Secrets</c:v>
                  </c:pt>
                  <c:pt idx="7">
                    <c:v>Classified</c:v>
                  </c:pt>
                  <c:pt idx="8">
                    <c:v>Payment</c:v>
                  </c:pt>
                  <c:pt idx="9">
                    <c:v>Bank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135</c:v>
                </c:pt>
                <c:pt idx="1">
                  <c:v>63</c:v>
                </c:pt>
                <c:pt idx="2">
                  <c:v>62</c:v>
                </c:pt>
                <c:pt idx="3">
                  <c:v>46</c:v>
                </c:pt>
                <c:pt idx="4">
                  <c:v>36</c:v>
                </c:pt>
                <c:pt idx="5">
                  <c:v>32</c:v>
                </c:pt>
                <c:pt idx="6">
                  <c:v>31</c:v>
                </c:pt>
                <c:pt idx="7">
                  <c:v>26</c:v>
                </c:pt>
                <c:pt idx="8">
                  <c:v>13</c:v>
                </c:pt>
                <c:pt idx="9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6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E8F4F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Hacking</c:v>
                </c:pt>
              </c:strCache>
            </c:strRef>
          </c:tx>
          <c:spPr>
            <a:solidFill>
              <a:srgbClr val="0D1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</c:v>
                </c:pt>
                <c:pt idx="1">
                  <c:v>4</c:v>
                </c:pt>
                <c:pt idx="2">
                  <c:v>40</c:v>
                </c:pt>
                <c:pt idx="3">
                  <c:v>52</c:v>
                </c:pt>
                <c:pt idx="4">
                  <c:v>13</c:v>
                </c:pt>
                <c:pt idx="5">
                  <c:v>8</c:v>
                </c:pt>
                <c:pt idx="6">
                  <c:v>14</c:v>
                </c:pt>
                <c:pt idx="7">
                  <c:v>3</c:v>
                </c:pt>
                <c:pt idx="8">
                  <c:v>4</c:v>
                </c:pt>
                <c:pt idx="9">
                  <c:v>6</c:v>
                </c:pt>
                <c:pt idx="10">
                  <c:v>8</c:v>
                </c:pt>
                <c:pt idx="11">
                  <c:v>5</c:v>
                </c:pt>
                <c:pt idx="12">
                  <c:v>3</c:v>
                </c:pt>
                <c:pt idx="1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Error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</c:v>
                </c:pt>
                <c:pt idx="1">
                  <c:v>1</c:v>
                </c:pt>
                <c:pt idx="2">
                  <c:v>7</c:v>
                </c:pt>
                <c:pt idx="3">
                  <c:v>11</c:v>
                </c:pt>
                <c:pt idx="4">
                  <c:v>4</c:v>
                </c:pt>
                <c:pt idx="5">
                  <c:v>10</c:v>
                </c:pt>
                <c:pt idx="6">
                  <c:v>10</c:v>
                </c:pt>
                <c:pt idx="7">
                  <c:v>6</c:v>
                </c:pt>
                <c:pt idx="8">
                  <c:v>5</c:v>
                </c:pt>
                <c:pt idx="9">
                  <c:v>11</c:v>
                </c:pt>
                <c:pt idx="10">
                  <c:v>18</c:v>
                </c:pt>
                <c:pt idx="11">
                  <c:v>1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Malware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3</c:v>
                </c:pt>
                <c:pt idx="1">
                  <c:v>1</c:v>
                </c:pt>
                <c:pt idx="2">
                  <c:v>17</c:v>
                </c:pt>
                <c:pt idx="3">
                  <c:v>14</c:v>
                </c:pt>
                <c:pt idx="4">
                  <c:v>3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1</c:v>
                </c:pt>
                <c:pt idx="9">
                  <c:v>2</c:v>
                </c:pt>
                <c:pt idx="10">
                  <c:v>6</c:v>
                </c:pt>
                <c:pt idx="11">
                  <c:v>6</c:v>
                </c:pt>
                <c:pt idx="12">
                  <c:v>0</c:v>
                </c:pt>
                <c:pt idx="13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Social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Sheet1!$E$2:$E$15</c:f>
              <c:numCache>
                <c:formatCode>General</c:formatCode>
                <c:ptCount val="14"/>
                <c:pt idx="0">
                  <c:v>3</c:v>
                </c:pt>
                <c:pt idx="1">
                  <c:v>1</c:v>
                </c:pt>
                <c:pt idx="2">
                  <c:v>18</c:v>
                </c:pt>
                <c:pt idx="3">
                  <c:v>14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2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  <c:pt idx="11">
                  <c:v>1</c:v>
                </c:pt>
                <c:pt idx="12">
                  <c:v>0</c:v>
                </c:pt>
                <c:pt idx="13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Misuse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Sheet1!$F$2:$F$15</c:f>
              <c:numCache>
                <c:formatCode>General</c:formatCode>
                <c:ptCount val="14"/>
                <c:pt idx="0">
                  <c:v>2</c:v>
                </c:pt>
                <c:pt idx="1">
                  <c:v>1</c:v>
                </c:pt>
                <c:pt idx="2">
                  <c:v>4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Physical</c:v>
                </c:pt>
              </c:strCache>
            </c:strRef>
          </c:tx>
          <c:spPr>
            <a:solidFill>
              <a:srgbClr val="7FA8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  <c:pt idx="5">
                    <c:v>2015</c:v>
                  </c:pt>
                  <c:pt idx="6">
                    <c:v>2016</c:v>
                  </c:pt>
                  <c:pt idx="7">
                    <c:v>2017</c:v>
                  </c:pt>
                  <c:pt idx="8">
                    <c:v>2018</c:v>
                  </c:pt>
                  <c:pt idx="9">
                    <c:v>2019</c:v>
                  </c:pt>
                  <c:pt idx="10">
                    <c:v>2020</c:v>
                  </c:pt>
                  <c:pt idx="11">
                    <c:v>2021</c:v>
                  </c:pt>
                  <c:pt idx="12">
                    <c:v>2024</c:v>
                  </c:pt>
                  <c:pt idx="13">
                    <c:v>2025</c:v>
                  </c:pt>
                </c:lvl>
              </c:multiLvlStrCache>
            </c:multiLvlStrRef>
          </c:cat>
          <c:val>
            <c:numRef>
              <c:f>Sheet1!$G$2:$G$15</c:f>
              <c:numCache>
                <c:formatCode>General</c:formatCode>
                <c:ptCount val="14"/>
                <c:pt idx="0">
                  <c:v>0</c:v>
                </c:pt>
                <c:pt idx="1">
                  <c:v>1</c:v>
                </c:pt>
                <c:pt idx="2">
                  <c:v>4</c:v>
                </c:pt>
                <c:pt idx="3">
                  <c:v>7</c:v>
                </c:pt>
                <c:pt idx="4">
                  <c:v>5</c:v>
                </c:pt>
                <c:pt idx="5">
                  <c:v>2</c:v>
                </c:pt>
                <c:pt idx="6">
                  <c:v>0</c:v>
                </c:pt>
                <c:pt idx="7">
                  <c:v>0</c:v>
                </c:pt>
                <c:pt idx="8">
                  <c:v>2</c:v>
                </c:pt>
                <c:pt idx="9">
                  <c:v>3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77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08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4F6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34155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3D526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627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566E8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2789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Public Admin</c:v>
                  </c:pt>
                  <c:pt idx="1">
                    <c:v>Information</c:v>
                  </c:pt>
                  <c:pt idx="2">
                    <c:v>Finance</c:v>
                  </c:pt>
                  <c:pt idx="3">
                    <c:v>Health Care</c:v>
                  </c:pt>
                  <c:pt idx="4">
                    <c:v>Professional Svcs</c:v>
                  </c:pt>
                  <c:pt idx="5">
                    <c:v>Retail</c:v>
                  </c:pt>
                  <c:pt idx="6">
                    <c:v>Manufacturing</c:v>
                  </c:pt>
                  <c:pt idx="7">
                    <c:v>Other</c:v>
                  </c:pt>
                  <c:pt idx="8">
                    <c:v>Education</c:v>
                  </c:pt>
                  <c:pt idx="9">
                    <c:v>Transport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</c:v>
                </c:pt>
                <c:pt idx="1">
                  <c:v>78</c:v>
                </c:pt>
                <c:pt idx="2">
                  <c:v>37</c:v>
                </c:pt>
                <c:pt idx="3">
                  <c:v>33</c:v>
                </c:pt>
                <c:pt idx="4">
                  <c:v>24</c:v>
                </c:pt>
                <c:pt idx="5">
                  <c:v>13</c:v>
                </c:pt>
                <c:pt idx="6">
                  <c:v>13</c:v>
                </c:pt>
                <c:pt idx="7">
                  <c:v>12</c:v>
                </c:pt>
                <c:pt idx="8">
                  <c:v>9</c:v>
                </c:pt>
                <c:pt idx="9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A8B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B2E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A8B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B2E45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EU GDPR SCOPE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Breach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 Report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getting breached, how, and what's at stake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840480"/>
            <a:ext cx="1737360" cy="868680"/>
          </a:xfrm>
          <a:prstGeom prst="rect">
            <a:avLst/>
          </a:prstGeom>
          <a:solidFill>
            <a:srgbClr val="1B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4315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3840480"/>
            <a:ext cx="1737360" cy="868680"/>
          </a:xfrm>
          <a:prstGeom prst="rect">
            <a:avLst/>
          </a:prstGeom>
          <a:solidFill>
            <a:srgbClr val="1B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377440" y="4315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Countries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3840480"/>
            <a:ext cx="1737360" cy="868680"/>
          </a:xfrm>
          <a:prstGeom prst="rect">
            <a:avLst/>
          </a:prstGeom>
          <a:solidFill>
            <a:srgbClr val="1B2E45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8587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389120" y="43159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Stolen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Stakeholders  ·  VCDB Dataset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scale of 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338 confirmed breach incidents across EU member states — 72% resulted in confirmed data theft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2024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338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GDPR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325880"/>
            <a:ext cx="1920240" cy="20116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51460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stolen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 confirmed cases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192024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incidents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325880"/>
            <a:ext cx="1920240" cy="2011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41732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8122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year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6974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incidents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20440"/>
            <a:ext cx="109728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" y="391363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 and Germany alone account for 35% of all EU incidents — likely driven by the concentration of major tech companies headquartered there under EU data regulation.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countries are most exposed?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by EU member state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FOR POWER BI: Replace this with a Filled Map visual for maximum impact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are attackers getting in?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method breakdown across 338 EU incidents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1097280"/>
            <a:ext cx="4206240" cy="105156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663440" y="1097280"/>
            <a:ext cx="91440" cy="10515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46320" y="1143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897880" y="1170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46320" y="16642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common — often targeting web apps and credentials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2331720"/>
            <a:ext cx="4206240" cy="105156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63440" y="2331720"/>
            <a:ext cx="91440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23774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97880" y="24048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46320" y="28986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 systems, wrong recipients, lost devices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3566160"/>
            <a:ext cx="4206240" cy="1051560"/>
          </a:xfrm>
          <a:prstGeom prst="rect">
            <a:avLst/>
          </a:prstGeom>
          <a:solidFill>
            <a:srgbClr val="1B2E45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3566160"/>
            <a:ext cx="91440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36118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897880" y="3639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&amp; Social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46320" y="413308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and ransomware increasingly common post-2019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data is being stolen?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dominates — critical for GDPR compliance and breach severity assessment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18872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63640" y="126187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4 — highest breach notification obligation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26480" y="237744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24505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636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9 — special category, enhanced protection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3566160"/>
            <a:ext cx="27432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36393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Bank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263640" y="3977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Intersects PCI-DSS + GDPR dual obligation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attack methods evolved over 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area — EU incidents 2010–2025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8412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2012–13 spike: coordinated hacking campaigns  ·  2020: error surges with remote work  ·  2025: hacking returns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sectors are most at risk?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administration and information sectors bear the heaviest burden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43000"/>
            <a:ext cx="292608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37960" y="1216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Admin &amp; Info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35040" y="1673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49% of all incidents. High-value targets with large citizen data stores.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2377440"/>
            <a:ext cx="292608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537960" y="24505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Care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290779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incidents — sensitive medical data carries highest GDPR penalty risk.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3611880"/>
            <a:ext cx="2926080" cy="1051560"/>
          </a:xfrm>
          <a:prstGeom prst="rect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537960" y="36850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Insurance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35040" y="41422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incidents — overlaps with PCI-DSS obligations for payment data.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we do about it?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priority recommendations based on breach pattern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109728" cy="10515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96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216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against hacking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61848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incidents are hacking. Prioritise MFA rollout, web app pentesting, and credential monitoring — especially for Irish and German entities.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377440"/>
            <a:ext cx="109728" cy="10515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231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25880" y="245059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human error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8529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breaches are errors — misconfigured systems, lost devices, wrong recipients. Mandatory data handling training and DLP tooling are quick wins.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611880"/>
            <a:ext cx="109728" cy="1051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39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368503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personal &amp; medical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appears in 40% of breach records. Apply data minimisation, encryption at rest, and automated breach detection for Art. 9 special category data.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286000"/>
            <a:ext cx="4572000" cy="457200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clear.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organisations face real, recurring, and preventable breaches.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patterns are consistent. The next step is 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A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VCDB validated breach dataset  ·  EU GDPR scope  ·  338 incidents analysed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GDPR Breach Intelligence Report</dc:title>
  <dc:subject>PptxGenJS Presentation</dc:subject>
  <dc:creator>PptxGenJS</dc:creator>
  <cp:lastModifiedBy>PptxGenJS</cp:lastModifiedBy>
  <cp:revision>1</cp:revision>
  <dcterms:created xsi:type="dcterms:W3CDTF">2026-05-02T16:27:10Z</dcterms:created>
  <dcterms:modified xsi:type="dcterms:W3CDTF">2026-05-02T16:27:10Z</dcterms:modified>
</cp:coreProperties>
</file>